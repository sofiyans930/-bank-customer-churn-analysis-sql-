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81E42"/>
          </a:solidFill>
          <a:ln>
            <a:solidFill>
              <a:srgbClr val="08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Customer Churn Analytics (SQL Project)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1E42"/>
                </a:solidFill>
              </a:rPr>
              <a:t>Prepared by: Sofiyan | Banking Industry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754880"/>
            <a:ext cx="10881360" cy="1005840"/>
          </a:xfrm>
          <a:prstGeom prst="roundRect">
            <a:avLst/>
          </a:prstGeom>
          <a:solidFill>
            <a:srgbClr val="F5B800"/>
          </a:solidFill>
          <a:ln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49194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81E42"/>
                </a:solidFill>
              </a:rPr>
              <a:t>Key Message: Churn is concentrated in Germany, inactive members, and customers with 3–4 products.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81E42"/>
                </a:solidFill>
              </a:rPr>
              <a:t>What this project does (in simple words):</a:t>
            </a:r>
          </a:p>
          <a:p>
            <a:r>
              <a:rPr sz="1800">
                <a:solidFill>
                  <a:srgbClr val="081E42"/>
                </a:solidFill>
              </a:rPr>
              <a:t>• Uses SQL to find which customers are leaving the bank (churn).</a:t>
            </a:r>
          </a:p>
          <a:p>
            <a:r>
              <a:rPr sz="1800">
                <a:solidFill>
                  <a:srgbClr val="081E42"/>
                </a:solidFill>
              </a:rPr>
              <a:t>• Finds the top churn segments (region, activity, products).</a:t>
            </a:r>
          </a:p>
          <a:p>
            <a:r>
              <a:rPr sz="1800">
                <a:solidFill>
                  <a:srgbClr val="081E42"/>
                </a:solidFill>
              </a:rPr>
              <a:t>• Gives business actions to reduce churn and protect revenue.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81E42"/>
          </a:solidFill>
          <a:ln>
            <a:solidFill>
              <a:srgbClr val="08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Objective + Dataset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1E42"/>
                </a:solidFill>
              </a:rPr>
              <a:t>Goal: Find churn patterns and identify high-risk segments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3429000" cy="1463040"/>
          </a:xfrm>
          <a:prstGeom prst="round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40279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81E42"/>
                </a:solidFill>
              </a:rPr>
              <a:t>10,000</a:t>
            </a:r>
          </a:p>
          <a:p>
            <a:pPr algn="ctr"/>
            <a:r>
              <a:rPr sz="1400" b="1">
                <a:solidFill>
                  <a:srgbClr val="081E42"/>
                </a:solidFill>
              </a:rPr>
              <a:t>Total Customers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429000" cy="1463040"/>
          </a:xfrm>
          <a:prstGeom prst="round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2240279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81E42"/>
                </a:solidFill>
              </a:rPr>
              <a:t>2,037</a:t>
            </a:r>
          </a:p>
          <a:p>
            <a:pPr algn="ctr"/>
            <a:r>
              <a:rPr sz="1400" b="1">
                <a:solidFill>
                  <a:srgbClr val="081E42"/>
                </a:solidFill>
              </a:rPr>
              <a:t>Churned (Exited=1)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103120"/>
            <a:ext cx="3429000" cy="1463040"/>
          </a:xfrm>
          <a:prstGeom prst="round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19" y="2240279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81E42"/>
                </a:solidFill>
              </a:rPr>
              <a:t>7,963</a:t>
            </a:r>
          </a:p>
          <a:p>
            <a:pPr algn="ctr"/>
            <a:r>
              <a:rPr sz="1400" b="1">
                <a:solidFill>
                  <a:srgbClr val="081E42"/>
                </a:solidFill>
              </a:rPr>
              <a:t>Retained (Exited=0)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00600"/>
            <a:ext cx="10881360" cy="1005840"/>
          </a:xfrm>
          <a:prstGeom prst="roundRect">
            <a:avLst/>
          </a:prstGeom>
          <a:solidFill>
            <a:srgbClr val="F5B800"/>
          </a:solidFill>
          <a:ln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9651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81E42"/>
                </a:solidFill>
              </a:rPr>
              <a:t>Business Impact: Losing 2,037 customers is a serious risk to revenue and customer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81E42"/>
          </a:solidFill>
          <a:ln>
            <a:solidFill>
              <a:srgbClr val="08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Insights (Top Drivers of Churn)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1E42"/>
                </a:solidFill>
              </a:rPr>
              <a:t>The 3 strongest churn drivers found using 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3429000" cy="1463040"/>
          </a:xfrm>
          <a:prstGeom prst="round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40279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81E42"/>
                </a:solidFill>
              </a:rPr>
              <a:t>32.44%</a:t>
            </a:r>
          </a:p>
          <a:p>
            <a:pPr algn="ctr"/>
            <a:r>
              <a:rPr sz="1400" b="1">
                <a:solidFill>
                  <a:srgbClr val="081E42"/>
                </a:solidFill>
              </a:rPr>
              <a:t>Germany Churn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429000" cy="1463040"/>
          </a:xfrm>
          <a:prstGeom prst="round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2240279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81E42"/>
                </a:solidFill>
              </a:rPr>
              <a:t>26.85%</a:t>
            </a:r>
          </a:p>
          <a:p>
            <a:pPr algn="ctr"/>
            <a:r>
              <a:rPr sz="1400" b="1">
                <a:solidFill>
                  <a:srgbClr val="081E42"/>
                </a:solidFill>
              </a:rPr>
              <a:t>Inactive Churn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103120"/>
            <a:ext cx="3429000" cy="1463040"/>
          </a:xfrm>
          <a:prstGeom prst="round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19" y="2240279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81E42"/>
                </a:solidFill>
              </a:rPr>
              <a:t>82.71%</a:t>
            </a:r>
          </a:p>
          <a:p>
            <a:pPr algn="ctr"/>
            <a:r>
              <a:rPr sz="1400" b="1">
                <a:solidFill>
                  <a:srgbClr val="081E42"/>
                </a:solidFill>
              </a:rPr>
              <a:t>3 Products Churn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00600"/>
            <a:ext cx="10881360" cy="1005840"/>
          </a:xfrm>
          <a:prstGeom prst="roundRect">
            <a:avLst/>
          </a:prstGeom>
          <a:solidFill>
            <a:srgbClr val="F5B800"/>
          </a:solidFill>
          <a:ln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9651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81E42"/>
                </a:solidFill>
              </a:rPr>
              <a:t>Aha Moment: Multi-product customers are leaving at extremely high rates, which signals dissatisfaction.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81E42"/>
          </a:solidFill>
          <a:ln>
            <a:solidFill>
              <a:srgbClr val="08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Top 3 Focus Areas (Leadership Priorities)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1E42"/>
                </a:solidFill>
              </a:rPr>
              <a:t>Where leadership should act first to reduce churn quickly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3429000" cy="1463040"/>
          </a:xfrm>
          <a:prstGeom prst="round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40279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81E42"/>
                </a:solidFill>
              </a:rPr>
              <a:t>Germany</a:t>
            </a:r>
          </a:p>
          <a:p>
            <a:pPr algn="ctr"/>
            <a:r>
              <a:rPr sz="1400" b="1">
                <a:solidFill>
                  <a:srgbClr val="081E42"/>
                </a:solidFill>
              </a:rPr>
              <a:t>Focus Area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429000" cy="1463040"/>
          </a:xfrm>
          <a:prstGeom prst="round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2240279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81E42"/>
                </a:solidFill>
              </a:rPr>
              <a:t>Inactive Members</a:t>
            </a:r>
          </a:p>
          <a:p>
            <a:pPr algn="ctr"/>
            <a:r>
              <a:rPr sz="1400" b="1">
                <a:solidFill>
                  <a:srgbClr val="081E42"/>
                </a:solidFill>
              </a:rPr>
              <a:t>Focus Area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103120"/>
            <a:ext cx="3429000" cy="1463040"/>
          </a:xfrm>
          <a:prstGeom prst="round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19" y="2240279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81E42"/>
                </a:solidFill>
              </a:rPr>
              <a:t>3–4 Products</a:t>
            </a:r>
          </a:p>
          <a:p>
            <a:pPr algn="ctr"/>
            <a:r>
              <a:rPr sz="1400" b="1">
                <a:solidFill>
                  <a:srgbClr val="081E42"/>
                </a:solidFill>
              </a:rPr>
              <a:t>Focus Area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72000"/>
            <a:ext cx="10881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81E42"/>
                </a:solidFill>
              </a:rPr>
              <a:t>• Germany has the highest churn rate, so it needs urgent attention.</a:t>
            </a:r>
          </a:p>
          <a:p>
            <a:pPr algn="l"/>
            <a:r>
              <a:rPr sz="1700">
                <a:solidFill>
                  <a:srgbClr val="081E42"/>
                </a:solidFill>
              </a:rPr>
              <a:t>• Inactive customers are leaving much more than active customers.</a:t>
            </a:r>
          </a:p>
          <a:p>
            <a:pPr algn="l"/>
            <a:r>
              <a:rPr sz="1700">
                <a:solidFill>
                  <a:srgbClr val="081E42"/>
                </a:solidFill>
              </a:rPr>
              <a:t>• Customers with 3–4 products show extreme churn, which must be fixed.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81E42"/>
          </a:solidFill>
          <a:ln>
            <a:solidFill>
              <a:srgbClr val="08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Recommendations + 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81E42"/>
                </a:solidFill>
              </a:rPr>
              <a:t>Simple business actions to reduce churn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19"/>
            <a:ext cx="3429000" cy="1596005"/>
          </a:xfrm>
          <a:prstGeom prst="round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3441" y="1970156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081E42"/>
                </a:solidFill>
              </a:rPr>
              <a:t>Improve Germany Support</a:t>
            </a:r>
          </a:p>
          <a:p>
            <a:pPr algn="ctr"/>
            <a:r>
              <a:rPr sz="1400" b="1" dirty="0">
                <a:solidFill>
                  <a:srgbClr val="081E42"/>
                </a:solidFill>
              </a:rPr>
              <a:t>Action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3881" y="2103120"/>
            <a:ext cx="3444239" cy="1596004"/>
          </a:xfrm>
          <a:prstGeom prst="round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2240279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081E42"/>
                </a:solidFill>
              </a:rPr>
              <a:t>Free ATM + Lower Fees</a:t>
            </a:r>
          </a:p>
          <a:p>
            <a:pPr algn="ctr"/>
            <a:r>
              <a:rPr sz="1400" b="1" dirty="0">
                <a:solidFill>
                  <a:srgbClr val="081E42"/>
                </a:solidFill>
              </a:rPr>
              <a:t>Action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103120"/>
            <a:ext cx="3429000" cy="1596004"/>
          </a:xfrm>
          <a:prstGeom prst="round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19" y="2240279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081E42"/>
                </a:solidFill>
              </a:rPr>
              <a:t>Simplify Product Bundles</a:t>
            </a:r>
          </a:p>
          <a:p>
            <a:pPr algn="ctr"/>
            <a:r>
              <a:rPr sz="1400" b="1" dirty="0">
                <a:solidFill>
                  <a:srgbClr val="081E42"/>
                </a:solidFill>
              </a:rPr>
              <a:t>Action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00600"/>
            <a:ext cx="10881360" cy="1005840"/>
          </a:xfrm>
          <a:prstGeom prst="roundRect">
            <a:avLst/>
          </a:prstGeom>
          <a:solidFill>
            <a:srgbClr val="F5B800"/>
          </a:solidFill>
          <a:ln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9651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81E42"/>
                </a:solidFill>
              </a:rPr>
              <a:t>Expected Outcome: Lower churn, higher retention, and protected bank revenue.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283</Words>
  <Application>Microsoft Office PowerPoint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Sofiyan Shaikh</dc:creator>
  <cp:keywords/>
  <dc:description>generated using python-pptx</dc:description>
  <cp:lastModifiedBy>Sofiyan Shaikh</cp:lastModifiedBy>
  <cp:revision>2</cp:revision>
  <dcterms:created xsi:type="dcterms:W3CDTF">2013-01-27T09:14:16Z</dcterms:created>
  <dcterms:modified xsi:type="dcterms:W3CDTF">2026-02-11T08:51:18Z</dcterms:modified>
  <cp:category/>
</cp:coreProperties>
</file>